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88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8032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3657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3657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43216" y="3657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27264" y="3657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11312" y="3657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3657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0058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59168" y="10058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10058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7264" y="10058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0058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0058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64592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9168" y="164592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43216" y="164592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27264" y="164592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164592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64592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28600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59168" y="228600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216" y="228600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27264" y="228600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228600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228600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292608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59168" y="292608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3216" y="292608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27264" y="292608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312" y="292608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292608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35661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59168" y="35661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43216" y="35661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27264" y="35661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1312" y="35661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0" y="356616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42062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59168" y="42062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43216" y="42062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27264" y="42062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11312" y="42062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0" y="4206240"/>
            <a:ext cx="91440" cy="91440"/>
          </a:xfrm>
          <a:prstGeom prst="lin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731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Clustering — VELSIPITY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10972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Hallazgos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</a:t>
            </a:r>
            <a:endParaRPr lang="en-US" sz="3700" dirty="0"/>
          </a:p>
        </p:txBody>
      </p:sp>
      <p:sp>
        <p:nvSpPr>
          <p:cNvPr id="48" name="Text 46"/>
          <p:cNvSpPr/>
          <p:nvPr/>
        </p:nvSpPr>
        <p:spPr>
          <a:xfrm>
            <a:off x="548640" y="2514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Prescriptores Farmacéuticos  ·  1,800,066 registros  ·  Abril 2026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" y="3017520"/>
            <a:ext cx="5303520" cy="502920"/>
          </a:xfrm>
          <a:prstGeom prst="rect">
            <a:avLst/>
          </a:prstGeom>
          <a:solidFill>
            <a:srgbClr val="4C72B0">
              <a:alpha val="82000"/>
            </a:srgbClr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3017520"/>
            <a:ext cx="64008" cy="5029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30540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— VELSIPITY_cleaned_igna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" y="3291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features  (log1p + lags + índices)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3611880"/>
            <a:ext cx="5303520" cy="502920"/>
          </a:xfrm>
          <a:prstGeom prst="rect">
            <a:avLst/>
          </a:prstGeom>
          <a:solidFill>
            <a:srgbClr val="DD8452">
              <a:alpha val="82000"/>
            </a:srgbClr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3611880"/>
            <a:ext cx="64008" cy="50292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3648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— data_processed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1520" y="38862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features  (+ engagement, market share)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·  K-Medoids  ·  DBSCAN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32688"/>
            <a:ext cx="457200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338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0241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los Datasets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transformaciones y estructura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01952"/>
            <a:ext cx="457200" cy="850392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031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9933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· K-Means y K-Medoids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40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Clusters, métricas y centroides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71216"/>
            <a:ext cx="457200" cy="850392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9626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· DBSCAN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3101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naturales y outliers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40480"/>
            <a:ext cx="457200" cy="850392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416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· K-Means y K-Medoids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279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Clusters, métricas y centroides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932688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932688"/>
            <a:ext cx="457200" cy="850392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1338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10241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· DBSCAN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1371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naturales y outliers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1901952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901952"/>
            <a:ext cx="457200" cy="8503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1031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19933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del k Óptimo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2340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Score — ambos datasets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871216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871216"/>
            <a:ext cx="457200" cy="8503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12080" y="29626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Comparativas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33101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Silhouette, Davies-Bouldin, Calinski-Harabasz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840480"/>
            <a:ext cx="416052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840480"/>
            <a:ext cx="457200" cy="8503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0416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12080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y Recomendaciones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12080" y="4279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Patrones, outliers y casos de uso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6"/>
          <p:cNvSpPr/>
          <p:nvPr/>
        </p:nvSpPr>
        <p:spPr>
          <a:xfrm>
            <a:off x="4709160" y="3410712"/>
            <a:ext cx="4114800" cy="1536192"/>
          </a:xfrm>
          <a:prstGeom prst="rect">
            <a:avLst/>
          </a:prstGeom>
          <a:solidFill>
            <a:srgbClr val="DD8452">
              <a:alpha val="10000"/>
            </a:srgbClr>
          </a:solidFill>
          <a:ln w="10160">
            <a:solidFill>
              <a:srgbClr val="DD8452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— Dos Versiones del mismo Dataset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1,800,066 registros · transformaciones distintas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28346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9260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686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— cleaned_igna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6517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8686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— data_processed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234440"/>
            <a:ext cx="28346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234440"/>
            <a:ext cx="29260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34440"/>
            <a:ext cx="265176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2344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totales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0" y="12344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12344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664208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664208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664208"/>
            <a:ext cx="2651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6642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clustering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0" y="16642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16642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093976"/>
            <a:ext cx="28346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093976"/>
            <a:ext cx="29260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093976"/>
            <a:ext cx="265176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0939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PCA 2D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0" y="20939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72200" y="20939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2523744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523744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2523744"/>
            <a:ext cx="2651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5237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óptimo (≥3)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0" y="252374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72200" y="25237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2953512"/>
            <a:ext cx="28346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2953512"/>
            <a:ext cx="29260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953512"/>
            <a:ext cx="265176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9535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totales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00400" y="29535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1,027,924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72200" y="29535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776,752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3410712"/>
            <a:ext cx="4206240" cy="1536192"/>
          </a:xfrm>
          <a:prstGeom prst="rect">
            <a:avLst/>
          </a:prstGeom>
          <a:solidFill>
            <a:srgbClr val="4C72B0">
              <a:alpha val="10000"/>
            </a:srgbClr>
          </a:solidFill>
          <a:ln w="10160">
            <a:solidFill>
              <a:srgbClr val="4C72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410712"/>
            <a:ext cx="4206240" cy="2743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410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DS1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9768" y="3712464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TRX/NRX/NBRX  ·  log1p  ·  lags (_L1)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marca (NTB_GIDX)  ·  geo/demo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3410712"/>
            <a:ext cx="4114800" cy="27432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410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adicionales DS2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18888" y="3712464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TOTAL_TRX  ·  TOTAL_NRX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ENGAGEMENT_SCORE  ·  NBRx_RATIO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BRAND1_MARKET_SHARE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828800"/>
            <a:ext cx="8503920" cy="30906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— VELSIPITY_cleaned_igna · K-Means y K-Medoids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 ·  muestra 25,000 (K-Means) / 5,000 (K-Medoids)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6642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868680"/>
            <a:ext cx="1664208" cy="82296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2.6017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868680"/>
            <a:ext cx="16642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776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notebook clustering_comparativo_ejecutado.ipynb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828800"/>
            <a:ext cx="8503920" cy="30906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— VELSIPITY_cleaned_igna · DBSCAN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eps=4.62  ·  min_samples=10  ·  muestra 7,000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6642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868680"/>
            <a:ext cx="16642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868680"/>
            <a:ext cx="16642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776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(outliers)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notebook clustering_comparativo_ejecutado.ipynb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828800"/>
            <a:ext cx="8503920" cy="30906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— data_processed · K-Means y K-Medoids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 ·  muestra 25,000 (K-Means) / 5,000 (K-Medoids)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664208" cy="82296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868680"/>
            <a:ext cx="166420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2.6085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868680"/>
            <a:ext cx="1664208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776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notebook clustering_velsipity_processed_ejecutado.ipynb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828800"/>
            <a:ext cx="8503920" cy="30906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— data_processed · DBSCAN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eps=5.71  ·  min_samples=10  ·  muestra 7,000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664208" cy="82296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868680"/>
            <a:ext cx="16642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0.2350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868680"/>
            <a:ext cx="1664208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914400"/>
            <a:ext cx="166420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77640" y="1321308"/>
            <a:ext cx="166420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(outliers)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notebook clustering_velsipity_processed_ejecutado.ipynb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del k Óptimo — Elbow + Silhouette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excluido por criterio de negocio  ·  k=4 óptimo en ambos datasets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96112"/>
            <a:ext cx="8503920" cy="3886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datasets convergen en k=4 como óptimo (≥3) — estructura natural de 4 segmentos de prescriptores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500176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notebook clustering_comparativo_ejecutado.ipynb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Comparativas — DS1 vs DS2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↑, Davies-Bouldin ↓, Calinski-Harabasz ↑  ·  3 algoritmos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86968"/>
            <a:ext cx="8503920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4270248"/>
            <a:ext cx="8503920" cy="256032"/>
          </a:xfrm>
          <a:prstGeom prst="rect">
            <a:avLst/>
          </a:prstGeom>
          <a:solidFill>
            <a:srgbClr val="4C72B0">
              <a:alpha val="12000"/>
            </a:srgbClr>
          </a:solidFill>
          <a:ln w="6350">
            <a:solidFill>
              <a:srgbClr val="4C72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4270248"/>
            <a:ext cx="54864" cy="256032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270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lidera en DBSCAN: Silhouette 0.28 vs 0.24 y 15 clusters vs 12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4562856"/>
            <a:ext cx="8503920" cy="256032"/>
          </a:xfrm>
          <a:prstGeom prst="rect">
            <a:avLst/>
          </a:prstGeom>
          <a:solidFill>
            <a:srgbClr val="DD8452">
              <a:alpha val="12000"/>
            </a:srgbClr>
          </a:solidFill>
          <a:ln w="6350">
            <a:solidFill>
              <a:srgbClr val="DD84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4562856"/>
            <a:ext cx="54864" cy="256032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628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lidera en K-Means: Silhouette 0.18 vs 0.13 y Calinski 1,502 vs 1,408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" y="4855464"/>
            <a:ext cx="8503920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4855464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8554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datasets son muy similares en Davies-Bouldin K-Means (~2.60)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992624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notebook clustering_comparativo_ejecutado.ipynb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/>
          <p:cNvSpPr/>
          <p:nvPr/>
        </p:nvSpPr>
        <p:spPr>
          <a:xfrm>
            <a:off x="6720840" y="329184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845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Comparativo de Propiedades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dimensiones de calidad — DS1 vs DS2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886968"/>
            <a:ext cx="5029200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20840" y="137160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72B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1371600"/>
            <a:ext cx="2194560" cy="301752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13716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destaca en: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175564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DBSCAN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útiles (15)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K-Medoids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20840" y="3291840"/>
            <a:ext cx="2194560" cy="301752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2918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destaca en: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367588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K-Means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% de ruido (13.6%)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0040" y="500176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notebook clustering_comparativo_ejecutado.ipynb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del Análisis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consistentes descubiertos en ambos datasets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4206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060704"/>
            <a:ext cx="9601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0607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13716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k=4 óptimo en ambos datasets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1719072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Silhouette Score converge en k=4 (≥3) en DS1 y DS2, confirmando una estructura natural de 4 segmentos de prescriptores independientemente de las transformaciones aplicadas.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14400"/>
            <a:ext cx="4206240" cy="73152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1060704"/>
            <a:ext cx="960120" cy="237744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0607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19472" y="13716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Distribución asimétrica universal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1719072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todos los algoritmos y datasets un cluster concentra el 65–92% de los prescriptores (baja actividad). El 8–35% restante representa el segmento de mayor valor comercial.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4206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072384"/>
            <a:ext cx="96012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072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" y="338328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log1p + lags mejoran la geometría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" y="3730752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transformaciones de DS1 producen clusters más cohesivos en K-Medoids (sil 0.13 vs 0.06) y DBSCAN (sil 0.28 vs 0.24), normalizando el sesgo de las distribuciones de prescripción.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26080"/>
            <a:ext cx="4206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3072384"/>
            <a:ext cx="9601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072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19472" y="338328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DBSCAN detecta prescriptores de alto valor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3730752"/>
            <a:ext cx="3858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13.6–14.1% clasificado como ruido incluye prescriptores con comportamiento extremo: top prescriptores, early adopters de IL23 y perfiles con market share inusual — candidatos prioritarios.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48280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41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1,800,066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Prescriptores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1920240" cy="822960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941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389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óptimo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1920240" cy="822960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41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389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DS1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1920240" cy="822960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941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389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alto valor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874520"/>
            <a:ext cx="26974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745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1874520"/>
            <a:ext cx="16916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874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1874520"/>
            <a:ext cx="16916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874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12280" y="1874520"/>
            <a:ext cx="19659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8745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8366760" cy="356616"/>
          </a:xfrm>
          <a:prstGeom prst="rect">
            <a:avLst/>
          </a:prstGeom>
          <a:solidFill>
            <a:srgbClr val="1322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212848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Segmentación productiva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267712"/>
            <a:ext cx="1600200" cy="246888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26771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2212848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2212848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1.8M registros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596896"/>
            <a:ext cx="8366760" cy="356616"/>
          </a:xfrm>
          <a:prstGeom prst="rect">
            <a:avLst/>
          </a:prstGeom>
          <a:solidFill>
            <a:srgbClr val="0F1E3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59689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Selección de KOL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2651760"/>
            <a:ext cx="1600200" cy="246888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65176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74920" y="2596896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 k=4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0" y="2596896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Medoides = prescriptores reales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2980944"/>
            <a:ext cx="8366760" cy="356616"/>
          </a:xfrm>
          <a:prstGeom prst="rect">
            <a:avLst/>
          </a:prstGeom>
          <a:solidFill>
            <a:srgbClr val="1322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980944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Micro-segmentación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91840" y="3035808"/>
            <a:ext cx="1600200" cy="246888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03580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74920" y="2980944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2980944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clusters + outliers identificados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364992"/>
            <a:ext cx="8366760" cy="356616"/>
          </a:xfrm>
          <a:prstGeom prst="rect">
            <a:avLst/>
          </a:prstGeom>
          <a:solidFill>
            <a:srgbClr val="0F1E3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364992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Análisis engagement/mkt share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91840" y="3419856"/>
            <a:ext cx="1600200" cy="246888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341985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74920" y="3364992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3364992"/>
            <a:ext cx="1920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ENGAGEMENT_SCORE y BRAND1_MARKET_SHARE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794760"/>
            <a:ext cx="8366760" cy="1024128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8587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Hallazgo principal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41330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datasets revelan una estructura consistente: masa mayoritaria de baja actividad (65–92%) y segmento minoritario de alto valor. Los outliers de DBSCAN (13–14%) son prescriptores con comportamiento extremo — top prescriptores o perfiles especializados — candidatos prioritarios para el equipo de campo.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923</Words>
  <Application>Microsoft Office PowerPoint</Application>
  <PresentationFormat>Presentación en pantalla (16:9)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VELSIPITY — Resultados y Hallazgos</dc:title>
  <dc:subject>PptxGenJS Presentation</dc:subject>
  <dc:creator>PptxGenJS</dc:creator>
  <cp:lastModifiedBy>Anonimo</cp:lastModifiedBy>
  <cp:revision>2</cp:revision>
  <dcterms:created xsi:type="dcterms:W3CDTF">2026-04-11T20:48:20Z</dcterms:created>
  <dcterms:modified xsi:type="dcterms:W3CDTF">2026-04-12T03:09:44Z</dcterms:modified>
</cp:coreProperties>
</file>